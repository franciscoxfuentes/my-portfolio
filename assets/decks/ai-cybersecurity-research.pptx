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ntonio" panose="020B0604020202020204" charset="0"/>
      <p:regular r:id="rId11"/>
    </p:embeddedFont>
    <p:embeddedFont>
      <p:font typeface="Antonio Light" panose="020B0604020202020204" charset="0"/>
      <p:regular r:id="rId12"/>
    </p:embeddedFont>
    <p:embeddedFont>
      <p:font typeface="Antonio Ultra-Bold" panose="020B0604020202020204" charset="0"/>
      <p:regular r:id="rId13"/>
    </p:embeddedFont>
    <p:embeddedFont>
      <p:font typeface="Montserrat Medium" pitchFamily="2" charset="0"/>
      <p:regular r:id="rId14"/>
      <p:italic r:id="rId15"/>
    </p:embeddedFont>
    <p:embeddedFont>
      <p:font typeface="Raleway Medium" panose="020F0502020204030204" pitchFamily="2" charset="0"/>
      <p:regular r:id="rId16"/>
    </p:embeddedFont>
    <p:embeddedFont>
      <p:font typeface="Raleway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4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6.svg"/><Relationship Id="rId7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6.sv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9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3042" y="2034365"/>
            <a:ext cx="7137321" cy="713732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34504" y="1028700"/>
            <a:ext cx="7624796" cy="8142986"/>
          </a:xfrm>
          <a:custGeom>
            <a:avLst/>
            <a:gdLst/>
            <a:ahLst/>
            <a:cxnLst/>
            <a:rect l="l" t="t" r="r" b="b"/>
            <a:pathLst>
              <a:path w="7624796" h="8142986">
                <a:moveTo>
                  <a:pt x="0" y="0"/>
                </a:moveTo>
                <a:lnTo>
                  <a:pt x="7624796" y="0"/>
                </a:lnTo>
                <a:lnTo>
                  <a:pt x="7624796" y="8142986"/>
                </a:lnTo>
                <a:lnTo>
                  <a:pt x="0" y="8142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599105" y="5143500"/>
            <a:ext cx="4884164" cy="488416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483559" y="3540245"/>
            <a:ext cx="3587414" cy="2530757"/>
          </a:xfrm>
          <a:custGeom>
            <a:avLst/>
            <a:gdLst/>
            <a:ahLst/>
            <a:cxnLst/>
            <a:rect l="l" t="t" r="r" b="b"/>
            <a:pathLst>
              <a:path w="3587414" h="2530757">
                <a:moveTo>
                  <a:pt x="0" y="0"/>
                </a:moveTo>
                <a:lnTo>
                  <a:pt x="3587414" y="0"/>
                </a:lnTo>
                <a:lnTo>
                  <a:pt x="3587414" y="2530758"/>
                </a:lnTo>
                <a:lnTo>
                  <a:pt x="0" y="2530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2125" y="3142989"/>
            <a:ext cx="6995030" cy="93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23"/>
              </a:lnSpc>
              <a:spcBef>
                <a:spcPct val="0"/>
              </a:spcBef>
            </a:pPr>
            <a:r>
              <a:rPr lang="en-US" sz="6399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AI IN CYBERSECURITY: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118476"/>
            <a:ext cx="9189636" cy="93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23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ANOMALY DETECTION SYSTEMS​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53489" y="8847174"/>
            <a:ext cx="3772302" cy="27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00" b="1" spc="6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Francisco Fuentes &amp; Jimmy Ma​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1/9</a:t>
            </a:r>
          </a:p>
        </p:txBody>
      </p:sp>
      <p:sp>
        <p:nvSpPr>
          <p:cNvPr id="20" name="Freeform 20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1921630" y="2670677"/>
            <a:ext cx="5246370" cy="524637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6"/>
              <a:stretch>
                <a:fillRect l="-25000" r="-25000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04067" y="2358141"/>
            <a:ext cx="1148007" cy="11480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08170" y="3287770"/>
            <a:ext cx="4411782" cy="467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Challenges of traditional threat detection methods​</a:t>
            </a:r>
          </a:p>
          <a:p>
            <a:pPr algn="l">
              <a:lnSpc>
                <a:spcPts val="2668"/>
              </a:lnSpc>
            </a:pPr>
            <a:endParaRPr lang="en-US" sz="23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How AI-based anomaly detection works​</a:t>
            </a:r>
          </a:p>
          <a:p>
            <a:pPr algn="l">
              <a:lnSpc>
                <a:spcPts val="2668"/>
              </a:lnSpc>
            </a:pPr>
            <a:endParaRPr lang="en-US" sz="23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Real-world cybersecurity use cases​</a:t>
            </a:r>
          </a:p>
          <a:p>
            <a:pPr algn="l">
              <a:lnSpc>
                <a:spcPts val="2668"/>
              </a:lnSpc>
            </a:pPr>
            <a:endParaRPr lang="en-US" sz="23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Risks and limitations of AI adoption​</a:t>
            </a:r>
          </a:p>
          <a:p>
            <a:pPr algn="l">
              <a:lnSpc>
                <a:spcPts val="2668"/>
              </a:lnSpc>
            </a:pPr>
            <a:endParaRPr lang="en-US" sz="23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Governance and best practices for organizations​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111293" y="7179103"/>
            <a:ext cx="1148007" cy="11480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90689" y="5370903"/>
            <a:ext cx="1776216" cy="936546"/>
            <a:chOff x="0" y="0"/>
            <a:chExt cx="467810" cy="2466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7810" cy="246662"/>
            </a:xfrm>
            <a:custGeom>
              <a:avLst/>
              <a:gdLst/>
              <a:ahLst/>
              <a:cxnLst/>
              <a:rect l="l" t="t" r="r" b="b"/>
              <a:pathLst>
                <a:path w="467810" h="246662">
                  <a:moveTo>
                    <a:pt x="0" y="0"/>
                  </a:moveTo>
                  <a:lnTo>
                    <a:pt x="467810" y="0"/>
                  </a:lnTo>
                  <a:lnTo>
                    <a:pt x="467810" y="246662"/>
                  </a:lnTo>
                  <a:lnTo>
                    <a:pt x="0" y="24666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6000"/>
                  </a:srgbClr>
                </a:gs>
                <a:gs pos="100000">
                  <a:srgbClr val="9B9B9B">
                    <a:alpha val="552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67810" cy="265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2/9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96014" y="3553773"/>
            <a:ext cx="4976321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AGENDA/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3164" y="5370062"/>
            <a:ext cx="2937524" cy="93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23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OVERVIEW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www.aicybersecurity.com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70833" y="4060098"/>
            <a:ext cx="7116792" cy="4114800"/>
          </a:xfrm>
          <a:custGeom>
            <a:avLst/>
            <a:gdLst/>
            <a:ahLst/>
            <a:cxnLst/>
            <a:rect l="l" t="t" r="r" b="b"/>
            <a:pathLst>
              <a:path w="7116792" h="4114800">
                <a:moveTo>
                  <a:pt x="0" y="0"/>
                </a:moveTo>
                <a:lnTo>
                  <a:pt x="7116792" y="0"/>
                </a:lnTo>
                <a:lnTo>
                  <a:pt x="71167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977851" y="4271007"/>
            <a:ext cx="3692982" cy="3692982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109813" r="-58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2937098" y="4271007"/>
            <a:ext cx="3692982" cy="3692982"/>
            <a:chOff x="0" y="0"/>
            <a:chExt cx="14840029" cy="14840029"/>
          </a:xfrm>
        </p:grpSpPr>
        <p:sp>
          <p:nvSpPr>
            <p:cNvPr id="14" name="Freeform 1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79486" y="4569497"/>
            <a:ext cx="1148007" cy="114800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300184" y="7190525"/>
            <a:ext cx="1148007" cy="114800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www.aicybersecurity.com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3/9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11672" y="1985735"/>
            <a:ext cx="10264657" cy="212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52"/>
              </a:lnSpc>
              <a:spcBef>
                <a:spcPct val="0"/>
              </a:spcBef>
            </a:pPr>
            <a:r>
              <a:rPr lang="en-US" sz="720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TRADITIONAL THREAT DETECTION​ </a:t>
            </a:r>
            <a:r>
              <a:rPr lang="en-US" sz="72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LIMITATIONS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78682" y="4565996"/>
            <a:ext cx="5872806" cy="3734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32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Traditional systems rely on predefined rules and known attack signatures​</a:t>
            </a:r>
          </a:p>
          <a:p>
            <a:pPr algn="l">
              <a:lnSpc>
                <a:spcPts val="2320"/>
              </a:lnSpc>
            </a:pPr>
            <a:endParaRPr lang="en-US" sz="20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31802" lvl="1" indent="-215901" algn="l">
              <a:lnSpc>
                <a:spcPts val="232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New or evolving threats may go undetected if they do not match existing patterns​</a:t>
            </a:r>
          </a:p>
          <a:p>
            <a:pPr algn="l">
              <a:lnSpc>
                <a:spcPts val="2320"/>
              </a:lnSpc>
            </a:pPr>
            <a:endParaRPr lang="en-US" sz="20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31802" lvl="1" indent="-215901" algn="l">
              <a:lnSpc>
                <a:spcPts val="232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Large numbers of false positives can overwhelm security analysts​</a:t>
            </a:r>
          </a:p>
          <a:p>
            <a:pPr algn="l">
              <a:lnSpc>
                <a:spcPts val="2320"/>
              </a:lnSpc>
            </a:pPr>
            <a:endParaRPr lang="en-US" sz="20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31802" lvl="1" indent="-215901" algn="l">
              <a:lnSpc>
                <a:spcPts val="232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 investigation slows response time and increases analyst fatigue​</a:t>
            </a:r>
          </a:p>
          <a:p>
            <a:pPr algn="ctr">
              <a:lnSpc>
                <a:spcPts val="2320"/>
              </a:lnSpc>
            </a:pPr>
            <a:endParaRPr lang="en-US" sz="2000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72049" y="2520315"/>
            <a:ext cx="4508599" cy="5246370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48403" r="-584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53006" y="1794438"/>
            <a:ext cx="1678544" cy="1953215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41805" r="-418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86519" y="6615217"/>
            <a:ext cx="1678544" cy="1953215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61087" r="-610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5218" y="5573710"/>
            <a:ext cx="1790091" cy="2083015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32820" y="2457332"/>
            <a:ext cx="5452887" cy="651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715" lvl="1" indent="-284857" algn="l">
              <a:lnSpc>
                <a:spcPts val="3060"/>
              </a:lnSpc>
              <a:buFont typeface="Arial"/>
              <a:buChar char="•"/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 can analyze large volumes of network and user activity much faster than humans​</a:t>
            </a:r>
          </a:p>
          <a:p>
            <a:pPr algn="l">
              <a:lnSpc>
                <a:spcPts val="3060"/>
              </a:lnSpc>
            </a:pPr>
            <a:endParaRPr lang="en-US" sz="26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69715" lvl="1" indent="-284857" algn="l">
              <a:lnSpc>
                <a:spcPts val="3060"/>
              </a:lnSpc>
              <a:buFont typeface="Arial"/>
              <a:buChar char="•"/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Machine learning identifies unusual behavior that may indicate a cyber threat​</a:t>
            </a:r>
          </a:p>
          <a:p>
            <a:pPr algn="l">
              <a:lnSpc>
                <a:spcPts val="3060"/>
              </a:lnSpc>
            </a:pPr>
            <a:endParaRPr lang="en-US" sz="26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69715" lvl="1" indent="-284857" algn="l">
              <a:lnSpc>
                <a:spcPts val="3060"/>
              </a:lnSpc>
              <a:buFont typeface="Arial"/>
              <a:buChar char="•"/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 helps reduce analyst workload by prioritizing suspicious events​</a:t>
            </a:r>
          </a:p>
          <a:p>
            <a:pPr algn="l">
              <a:lnSpc>
                <a:spcPts val="3060"/>
              </a:lnSpc>
            </a:pPr>
            <a:endParaRPr lang="en-US" sz="26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69715" lvl="1" indent="-284857" algn="l">
              <a:lnSpc>
                <a:spcPts val="3060"/>
              </a:lnSpc>
              <a:buFont typeface="Arial"/>
              <a:buChar char="•"/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Faster detection can shorten breach lifecycles and improve incident response​</a:t>
            </a:r>
          </a:p>
          <a:p>
            <a:pPr algn="l">
              <a:lnSpc>
                <a:spcPts val="3060"/>
              </a:lnSpc>
            </a:pPr>
            <a:endParaRPr lang="en-US" sz="26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​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32820" y="2122778"/>
            <a:ext cx="850783" cy="85078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2820" y="3640311"/>
            <a:ext cx="850783" cy="85078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32820" y="5157843"/>
            <a:ext cx="850783" cy="85078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232820" y="6672760"/>
            <a:ext cx="850783" cy="85078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4/9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www.watchguard.com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61290" y="3394392"/>
            <a:ext cx="5259509" cy="352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AI-BASED THREAT </a:t>
            </a:r>
            <a:r>
              <a:rPr lang="en-US" sz="8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DETECTION​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8531" y="4066889"/>
            <a:ext cx="5790071" cy="4034384"/>
            <a:chOff x="0" y="0"/>
            <a:chExt cx="1929913" cy="13447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9913" cy="1344717"/>
            </a:xfrm>
            <a:custGeom>
              <a:avLst/>
              <a:gdLst/>
              <a:ahLst/>
              <a:cxnLst/>
              <a:rect l="l" t="t" r="r" b="b"/>
              <a:pathLst>
                <a:path w="1929913" h="1344717">
                  <a:moveTo>
                    <a:pt x="0" y="0"/>
                  </a:moveTo>
                  <a:lnTo>
                    <a:pt x="1929913" y="0"/>
                  </a:lnTo>
                  <a:lnTo>
                    <a:pt x="1929913" y="1344717"/>
                  </a:lnTo>
                  <a:lnTo>
                    <a:pt x="0" y="1344717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929913" cy="136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0741914" y="-3252602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9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9" y="16235139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439059" y="1530699"/>
            <a:ext cx="5773718" cy="235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EXAMPLES OF AI  </a:t>
            </a:r>
            <a:r>
              <a:rPr lang="en-US" sz="8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CYBERSECURITY​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992013" y="3871495"/>
            <a:ext cx="2108633" cy="2108633"/>
            <a:chOff x="0" y="0"/>
            <a:chExt cx="14840029" cy="14840029"/>
          </a:xfrm>
        </p:grpSpPr>
        <p:sp>
          <p:nvSpPr>
            <p:cNvPr id="14" name="Freeform 1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74559" r="-26939" b="-305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72088" y="4066889"/>
            <a:ext cx="5790071" cy="4034384"/>
            <a:chOff x="0" y="0"/>
            <a:chExt cx="1929913" cy="13447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29913" cy="1344717"/>
            </a:xfrm>
            <a:custGeom>
              <a:avLst/>
              <a:gdLst/>
              <a:ahLst/>
              <a:cxnLst/>
              <a:rect l="l" t="t" r="r" b="b"/>
              <a:pathLst>
                <a:path w="1929913" h="1344717">
                  <a:moveTo>
                    <a:pt x="0" y="0"/>
                  </a:moveTo>
                  <a:lnTo>
                    <a:pt x="1929913" y="0"/>
                  </a:lnTo>
                  <a:lnTo>
                    <a:pt x="1929913" y="1344717"/>
                  </a:lnTo>
                  <a:lnTo>
                    <a:pt x="0" y="1344717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929913" cy="136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365570" y="3871495"/>
            <a:ext cx="2108633" cy="2108633"/>
            <a:chOff x="0" y="0"/>
            <a:chExt cx="14840029" cy="14840029"/>
          </a:xfrm>
        </p:grpSpPr>
        <p:sp>
          <p:nvSpPr>
            <p:cNvPr id="21" name="Freeform 21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62341" r="-35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5/9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www.IBM.com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9334" y="4714570"/>
            <a:ext cx="3948001" cy="2580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7342" lvl="1" indent="-193671" algn="l">
              <a:lnSpc>
                <a:spcPts val="2081"/>
              </a:lnSpc>
              <a:buFont typeface="Arial"/>
              <a:buChar char="•"/>
            </a:pPr>
            <a:r>
              <a:rPr lang="en-US" sz="1794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 AI develops, cyber attacks continue to become sophisticated and difficult to manage.​</a:t>
            </a:r>
          </a:p>
          <a:p>
            <a:pPr algn="l">
              <a:lnSpc>
                <a:spcPts val="2081"/>
              </a:lnSpc>
            </a:pPr>
            <a:endParaRPr lang="en-US" sz="1794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387342" lvl="1" indent="-193671" algn="l">
              <a:lnSpc>
                <a:spcPts val="2081"/>
              </a:lnSpc>
              <a:buFont typeface="Arial"/>
              <a:buChar char="•"/>
            </a:pPr>
            <a:r>
              <a:rPr lang="en-US" sz="1794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IBM Security has utilized AI in threat detection to accelerate alert investigations and triage by 55% with AI-powered risk analysis.​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39334" y="4191953"/>
            <a:ext cx="4327560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IBM Security on Threat Detection​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12891" y="4682251"/>
            <a:ext cx="3948001" cy="283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7342" lvl="1" indent="-193671" algn="l">
              <a:lnSpc>
                <a:spcPts val="2081"/>
              </a:lnSpc>
              <a:buFont typeface="Arial"/>
              <a:buChar char="•"/>
            </a:pPr>
            <a:r>
              <a:rPr lang="en-US" sz="1794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Dynamic Application Security Testing (DAST) is a method that simulates attacks on an application while running to identify potential vulnerabilities.​</a:t>
            </a:r>
          </a:p>
          <a:p>
            <a:pPr algn="l">
              <a:lnSpc>
                <a:spcPts val="2081"/>
              </a:lnSpc>
            </a:pPr>
            <a:endParaRPr lang="en-US" sz="1794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387342" lvl="1" indent="-193671" algn="l">
              <a:lnSpc>
                <a:spcPts val="2081"/>
              </a:lnSpc>
              <a:buFont typeface="Arial"/>
              <a:buChar char="•"/>
            </a:pPr>
            <a:r>
              <a:rPr lang="en-US" sz="1794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Implementations of AI within DAST applications have created the automation of certain tasks and allowed for humans to redirect their focus and attention.​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12891" y="4208514"/>
            <a:ext cx="4317472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Automating Vulnerability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99485" y="1794438"/>
            <a:ext cx="4485957" cy="7172315"/>
          </a:xfrm>
          <a:custGeom>
            <a:avLst/>
            <a:gdLst/>
            <a:ahLst/>
            <a:cxnLst/>
            <a:rect l="l" t="t" r="r" b="b"/>
            <a:pathLst>
              <a:path w="4485957" h="7172315">
                <a:moveTo>
                  <a:pt x="0" y="0"/>
                </a:moveTo>
                <a:lnTo>
                  <a:pt x="4485956" y="0"/>
                </a:lnTo>
                <a:lnTo>
                  <a:pt x="4485956" y="7172315"/>
                </a:lnTo>
                <a:lnTo>
                  <a:pt x="0" y="7172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713146" y="2520315"/>
            <a:ext cx="3516651" cy="5716585"/>
            <a:chOff x="0" y="0"/>
            <a:chExt cx="544821" cy="8856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4821" cy="885649"/>
            </a:xfrm>
            <a:custGeom>
              <a:avLst/>
              <a:gdLst/>
              <a:ahLst/>
              <a:cxnLst/>
              <a:rect l="l" t="t" r="r" b="b"/>
              <a:pathLst>
                <a:path w="544821" h="885649">
                  <a:moveTo>
                    <a:pt x="0" y="0"/>
                  </a:moveTo>
                  <a:lnTo>
                    <a:pt x="544821" y="0"/>
                  </a:lnTo>
                  <a:lnTo>
                    <a:pt x="544821" y="885649"/>
                  </a:lnTo>
                  <a:lnTo>
                    <a:pt x="0" y="885649"/>
                  </a:lnTo>
                  <a:close/>
                </a:path>
              </a:pathLst>
            </a:custGeom>
            <a:blipFill>
              <a:blip r:embed="rId7"/>
              <a:stretch>
                <a:fillRect l="-52949" r="-1360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6/9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47842" y="3553773"/>
            <a:ext cx="5933544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RISKS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47842" y="5040763"/>
            <a:ext cx="6537581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LIMITAITIONS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833341" y="3845131"/>
            <a:ext cx="1148007" cy="11480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72049" y="2441653"/>
            <a:ext cx="5452887" cy="710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124" lvl="1" indent="-274062" algn="l">
              <a:lnSpc>
                <a:spcPts val="2944"/>
              </a:lnSpc>
              <a:buFont typeface="Arial"/>
              <a:buChar char="•"/>
            </a:pPr>
            <a:r>
              <a:rPr lang="en-US" sz="25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 systems can misclassify threats and still produce false positives or false negatives​</a:t>
            </a:r>
          </a:p>
          <a:p>
            <a:pPr algn="l">
              <a:lnSpc>
                <a:spcPts val="2944"/>
              </a:lnSpc>
            </a:pPr>
            <a:endParaRPr lang="en-US" sz="25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48124" lvl="1" indent="-274062" algn="l">
              <a:lnSpc>
                <a:spcPts val="2944"/>
              </a:lnSpc>
              <a:buFont typeface="Arial"/>
              <a:buChar char="•"/>
            </a:pPr>
            <a:r>
              <a:rPr lang="en-US" sz="25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Overreliance on AI may reduce human judgment in high-risk security decisions​</a:t>
            </a:r>
          </a:p>
          <a:p>
            <a:pPr algn="l">
              <a:lnSpc>
                <a:spcPts val="2944"/>
              </a:lnSpc>
            </a:pPr>
            <a:endParaRPr lang="en-US" sz="25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48124" lvl="1" indent="-274062" algn="l">
              <a:lnSpc>
                <a:spcPts val="2944"/>
              </a:lnSpc>
              <a:buFont typeface="Arial"/>
              <a:buChar char="•"/>
            </a:pPr>
            <a:r>
              <a:rPr lang="en-US" sz="25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Attackers may target AI systems through adversarial inputs or prompt injection techniques​</a:t>
            </a:r>
          </a:p>
          <a:p>
            <a:pPr algn="l">
              <a:lnSpc>
                <a:spcPts val="2944"/>
              </a:lnSpc>
            </a:pPr>
            <a:endParaRPr lang="en-US" sz="25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548124" lvl="1" indent="-274062" algn="l">
              <a:lnSpc>
                <a:spcPts val="2944"/>
              </a:lnSpc>
              <a:buFont typeface="Arial"/>
              <a:buChar char="•"/>
            </a:pPr>
            <a:r>
              <a:rPr lang="en-US" sz="25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Some AI tools lack transparency, making it difficult to explain how decisions were made​</a:t>
            </a:r>
          </a:p>
          <a:p>
            <a:pPr algn="l">
              <a:lnSpc>
                <a:spcPts val="3060"/>
              </a:lnSpc>
            </a:pPr>
            <a:endParaRPr lang="en-US" sz="2538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3060"/>
              </a:lnSpc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​</a:t>
            </a:r>
          </a:p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sz="263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www.aicybersecurity.com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72049" y="2154724"/>
            <a:ext cx="850783" cy="85078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72049" y="3634157"/>
            <a:ext cx="850783" cy="85078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72049" y="5151690"/>
            <a:ext cx="850783" cy="85078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72049" y="6666606"/>
            <a:ext cx="850783" cy="85078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7/9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www.harvard.edu/blog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37849" y="2086986"/>
            <a:ext cx="12564960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GOVERNANCE AND BEST PRACTICES​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470746" y="3964928"/>
            <a:ext cx="3843838" cy="4472829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47447" y="3937811"/>
            <a:ext cx="3843838" cy="4499946"/>
            <a:chOff x="0" y="0"/>
            <a:chExt cx="698500" cy="8177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7728"/>
            </a:xfrm>
            <a:custGeom>
              <a:avLst/>
              <a:gdLst/>
              <a:ahLst/>
              <a:cxnLst/>
              <a:rect l="l" t="t" r="r" b="b"/>
              <a:pathLst>
                <a:path w="698500" h="817728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14528"/>
                  </a:lnTo>
                  <a:lnTo>
                    <a:pt x="349250" y="817728"/>
                  </a:lnTo>
                  <a:lnTo>
                    <a:pt x="0" y="614528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20650"/>
              <a:ext cx="698500" cy="557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910263" y="3613526"/>
            <a:ext cx="1050230" cy="1222086"/>
            <a:chOff x="0" y="0"/>
            <a:chExt cx="6985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32081" y="3904786"/>
            <a:ext cx="701843" cy="57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882" b="1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45491" y="5143500"/>
            <a:ext cx="3694348" cy="243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7"/>
              </a:lnSpc>
              <a:spcBef>
                <a:spcPct val="0"/>
              </a:spcBef>
            </a:pPr>
            <a:r>
              <a:rPr lang="en-US" sz="2385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Organizations should thoroughly assess the business practices and governance policies of third-party vendors with an emphasis on clear communication.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251" y="3613526"/>
            <a:ext cx="1050230" cy="1222086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366069" y="3904786"/>
            <a:ext cx="701843" cy="57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882" b="1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30670" y="5143500"/>
            <a:ext cx="3477392" cy="202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  <a:spcBef>
                <a:spcPct val="0"/>
              </a:spcBef>
            </a:pPr>
            <a:r>
              <a:rPr lang="en-US" sz="2308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System transparency is critical for avoiding black box systems, especially for cybersecurity firms that work to protect sensitive information.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024148" y="3964928"/>
            <a:ext cx="3843838" cy="4472829"/>
            <a:chOff x="0" y="0"/>
            <a:chExt cx="6985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420951" y="3613526"/>
            <a:ext cx="1050230" cy="1222086"/>
            <a:chOff x="0" y="0"/>
            <a:chExt cx="6985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642770" y="3904786"/>
            <a:ext cx="701843" cy="57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882" b="1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46246" y="4869857"/>
            <a:ext cx="3199641" cy="271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6"/>
              </a:lnSpc>
              <a:spcBef>
                <a:spcPct val="0"/>
              </a:spcBef>
            </a:pPr>
            <a:r>
              <a:rPr lang="en-US" sz="2066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 the current landscape of modern technology, firms should prioritize hiring and training talent with AI expertise in cybersecurity for an understanding of AI systems and attack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06903" y="3310736"/>
            <a:ext cx="6995030" cy="24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2"/>
              </a:lnSpc>
              <a:spcBef>
                <a:spcPct val="0"/>
              </a:spcBef>
            </a:pPr>
            <a:r>
              <a:rPr lang="en-US" sz="16545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53489" y="2403386"/>
            <a:ext cx="2138817" cy="213881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64522" y="1871215"/>
            <a:ext cx="6539965" cy="6539965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6"/>
              <a:stretch>
                <a:fillRect l="-10235" r="-67605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1481618"/>
            <a:ext cx="1431070" cy="143107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887228" y="7491282"/>
            <a:ext cx="1431070" cy="143107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8/9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www.aicybersecurity.com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68105" y="5437365"/>
            <a:ext cx="4272627" cy="24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2"/>
              </a:lnSpc>
              <a:spcBef>
                <a:spcPct val="0"/>
              </a:spcBef>
            </a:pPr>
            <a:r>
              <a:rPr lang="en-US" sz="16545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YOU!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3164" y="1189894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8669610" y="3073227"/>
            <a:ext cx="13199814" cy="5627536"/>
          </a:xfrm>
          <a:custGeom>
            <a:avLst/>
            <a:gdLst/>
            <a:ahLst/>
            <a:cxnLst/>
            <a:rect l="l" t="t" r="r" b="b"/>
            <a:pathLst>
              <a:path w="13199814" h="5627536">
                <a:moveTo>
                  <a:pt x="13199814" y="0"/>
                </a:moveTo>
                <a:lnTo>
                  <a:pt x="0" y="0"/>
                </a:lnTo>
                <a:lnTo>
                  <a:pt x="0" y="5627536"/>
                </a:lnTo>
                <a:lnTo>
                  <a:pt x="13199814" y="5627536"/>
                </a:lnTo>
                <a:lnTo>
                  <a:pt x="13199814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9/9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8523" y="4088790"/>
            <a:ext cx="6751557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REFERENCES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253489" y="8821647"/>
            <a:ext cx="3772302" cy="33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www.aicybersecurity.com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3164" y="2231297"/>
            <a:ext cx="5829355" cy="608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Artificial Intelligence (AI) cybersecurity solutions. IBM. (n.d.). https://www.ibm.com/solutions/ai-</a:t>
            </a: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cybersecurity ​</a:t>
            </a:r>
          </a:p>
          <a:p>
            <a:pPr algn="l">
              <a:lnSpc>
                <a:spcPts val="2184"/>
              </a:lnSpc>
            </a:pPr>
            <a:endParaRPr lang="en-US" sz="1882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Short, L. (2025, August 1). Ai and the future of Cybersecurity. Harvard Extension School.</a:t>
            </a: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https://extension.harvard.edu/blog/ai-and-the-future-of-cybersecurity/#How-AI-Enables-the-Next-</a:t>
            </a: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Generation-of-Cyber-Attacks- ​</a:t>
            </a:r>
          </a:p>
          <a:p>
            <a:pPr algn="l">
              <a:lnSpc>
                <a:spcPts val="2184"/>
              </a:lnSpc>
            </a:pPr>
            <a:endParaRPr lang="en-US" sz="1882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Vazquez, I. (2023, September 21). Economic impact of automation and Artificial Intelligence:</a:t>
            </a: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WatchGuard Technologies. WatchGuard Blog. https://www.watchguard.com/wgrd-</a:t>
            </a: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news/blog/economic-impact-automation-and-artificial-intelligence ​</a:t>
            </a:r>
          </a:p>
          <a:p>
            <a:pPr algn="l">
              <a:lnSpc>
                <a:spcPts val="2184"/>
              </a:lnSpc>
            </a:pPr>
            <a:endParaRPr lang="en-US" sz="1882" b="1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184"/>
              </a:lnSpc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Watkins, O. (2024, April 19). 4 use cases for AI in cyber security. Red Hat.</a:t>
            </a:r>
          </a:p>
          <a:p>
            <a:pPr algn="l">
              <a:lnSpc>
                <a:spcPts val="2184"/>
              </a:lnSpc>
              <a:spcBef>
                <a:spcPct val="0"/>
              </a:spcBef>
            </a:pPr>
            <a:r>
              <a:rPr lang="en-US" sz="1882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https://www.redhat.com/en/blog/4-use-cases-ai-cyber-security 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Custom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Antonio Light</vt:lpstr>
      <vt:lpstr>Raleway Ultra-Bold</vt:lpstr>
      <vt:lpstr>Antonio</vt:lpstr>
      <vt:lpstr>Raleway Medium</vt:lpstr>
      <vt:lpstr>Calibri</vt:lpstr>
      <vt:lpstr>Antonio Ultra-Bold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Simple Cybersecurity Presentation</dc:title>
  <dc:creator>Desktop</dc:creator>
  <cp:lastModifiedBy>Fuentes, Francisco X</cp:lastModifiedBy>
  <cp:revision>1</cp:revision>
  <dcterms:created xsi:type="dcterms:W3CDTF">2006-08-16T00:00:00Z</dcterms:created>
  <dcterms:modified xsi:type="dcterms:W3CDTF">2026-05-09T23:45:33Z</dcterms:modified>
  <dc:identifier>DAHEjc3371c</dc:identifier>
</cp:coreProperties>
</file>